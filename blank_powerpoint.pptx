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6"/>
  </p:notesMasterIdLst>
  <p:sldIdLst>
    <p:sldId id="256" r:id="rId2"/>
    <p:sldId id="257" r:id="rId3"/>
    <p:sldId id="258" r:id="rId4"/>
    <p:sldId id="283" r:id="rId5"/>
  </p:sldIdLst>
  <p:sldSz cx="9144000" cy="5143500" type="screen16x9"/>
  <p:notesSz cx="6858000" cy="9144000"/>
  <p:embeddedFontLst>
    <p:embeddedFont>
      <p:font typeface="Inter" panose="02000503000000020004" pitchFamily="2" charset="0"/>
      <p:regular r:id="rId7"/>
      <p:bold r:id="rId8"/>
      <p:italic r:id="rId9"/>
      <p:boldItalic r:id="rId10"/>
    </p:embeddedFont>
    <p:embeddedFont>
      <p:font typeface="Inter Medium" panose="02000503000000020004" pitchFamily="2" charset="0"/>
      <p:regular r:id="rId11"/>
      <p:bold r:id="rId12"/>
      <p:italic r:id="rId13"/>
      <p:boldItalic r:id="rId14"/>
    </p:embeddedFont>
    <p:embeddedFont>
      <p:font typeface="Inter SemiBold" panose="02000503000000020004" pitchFamily="2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E210F88-27BB-4D5B-8A9C-3F905AA3E084}">
  <a:tblStyle styleId="{CE210F88-27BB-4D5B-8A9C-3F905AA3E08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8" d="100"/>
          <a:sy n="128" d="100"/>
        </p:scale>
        <p:origin x="31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font" Target="fonts/font7.fntdata"/><Relationship Id="rId18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font" Target="fonts/font1.fntdata"/><Relationship Id="rId12" Type="http://schemas.openxmlformats.org/officeDocument/2006/relationships/font" Target="fonts/font6.fntdata"/><Relationship Id="rId17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font" Target="fonts/font10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font" Target="fonts/font9.fntdata"/><Relationship Id="rId10" Type="http://schemas.openxmlformats.org/officeDocument/2006/relationships/font" Target="fonts/font4.fntdata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font" Target="fonts/font8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77af7a6af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77af7a6af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Amaury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bc3b886ea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bc3b886ea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Amaury (1 min)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bc3b886ea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bc3b886ea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Amaury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77ed9f117a_2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77ed9f117a_2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FDAD2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735475" y="1710025"/>
            <a:ext cx="6478200" cy="61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40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Build Manage Data infra</a:t>
            </a:r>
            <a:endParaRPr sz="4000" dirty="0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5550" y="2595750"/>
            <a:ext cx="3818450" cy="2547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0550" y="787375"/>
            <a:ext cx="973275" cy="65105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>
            <a:spLocks noGrp="1"/>
          </p:cNvSpPr>
          <p:nvPr>
            <p:ph type="ctrTitle"/>
          </p:nvPr>
        </p:nvSpPr>
        <p:spPr>
          <a:xfrm>
            <a:off x="720900" y="2247025"/>
            <a:ext cx="7702200" cy="53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500" i="1" dirty="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br>
              <a:rPr lang="fr-FR" sz="2500" i="1" dirty="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r>
              <a:rPr lang="fr-FR" sz="2500" i="1" dirty="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endParaRPr sz="2500" i="1" dirty="0">
              <a:solidFill>
                <a:schemeClr val="lt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58" name="Google Shape;58;p13"/>
          <p:cNvSpPr txBox="1">
            <a:spLocks noGrp="1"/>
          </p:cNvSpPr>
          <p:nvPr>
            <p:ph type="ctrTitle"/>
          </p:nvPr>
        </p:nvSpPr>
        <p:spPr>
          <a:xfrm>
            <a:off x="92702" y="4554375"/>
            <a:ext cx="6522300" cy="53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 i="1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rPr>
              <a:t>Marine - Lorédane - Martin - Amaury</a:t>
            </a:r>
            <a:endParaRPr sz="1000" i="1">
              <a:solidFill>
                <a:schemeClr val="lt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59" name="Google Shape;59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4FF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>
            <a:spLocks noGrp="1"/>
          </p:cNvSpPr>
          <p:nvPr>
            <p:ph type="ctrTitle" idx="4294967295"/>
          </p:nvPr>
        </p:nvSpPr>
        <p:spPr>
          <a:xfrm>
            <a:off x="735252" y="1702749"/>
            <a:ext cx="5620120" cy="217505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4500" b="1" dirty="0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rPr>
              <a:t>Planifier votre prochain voyage</a:t>
            </a:r>
            <a:endParaRPr sz="4500" b="1" dirty="0">
              <a:solidFill>
                <a:srgbClr val="0E3449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500" b="1" dirty="0">
              <a:solidFill>
                <a:srgbClr val="0E344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65" name="Google Shape;6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75050" y="1130711"/>
            <a:ext cx="2114450" cy="2882075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>
            <a:spLocks noGrp="1"/>
          </p:cNvSpPr>
          <p:nvPr>
            <p:ph type="ctrTitle" idx="4294967295"/>
          </p:nvPr>
        </p:nvSpPr>
        <p:spPr>
          <a:xfrm>
            <a:off x="1192664" y="403309"/>
            <a:ext cx="5315100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5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Le Problème :</a:t>
            </a:r>
            <a:endParaRPr sz="2500" dirty="0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73" name="Google Shape;73;p15"/>
          <p:cNvSpPr txBox="1">
            <a:spLocks noGrp="1"/>
          </p:cNvSpPr>
          <p:nvPr>
            <p:ph type="ctrTitle" idx="4294967295"/>
          </p:nvPr>
        </p:nvSpPr>
        <p:spPr>
          <a:xfrm>
            <a:off x="1182450" y="2762700"/>
            <a:ext cx="7557000" cy="150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700">
                <a:solidFill>
                  <a:srgbClr val="4B5258"/>
                </a:solidFill>
                <a:latin typeface="Inter Medium"/>
                <a:ea typeface="Inter Medium"/>
                <a:cs typeface="Inter Medium"/>
                <a:sym typeface="Inter Medium"/>
              </a:rPr>
              <a:t>🎯 </a:t>
            </a:r>
            <a:r>
              <a:rPr lang="fr" sz="1700" b="1" u="sng">
                <a:solidFill>
                  <a:srgbClr val="4B5258"/>
                </a:solidFill>
                <a:latin typeface="Inter"/>
                <a:ea typeface="Inter"/>
                <a:cs typeface="Inter"/>
                <a:sym typeface="Inter"/>
              </a:rPr>
              <a:t>Our approach</a:t>
            </a:r>
            <a:endParaRPr sz="1700" b="1" u="sng">
              <a:solidFill>
                <a:srgbClr val="4B5258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 b="1" u="sng">
              <a:solidFill>
                <a:srgbClr val="4B5258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700"/>
              <a:t>We use </a:t>
            </a:r>
            <a:r>
              <a:rPr lang="fr" sz="1700" b="1"/>
              <a:t>machine learning</a:t>
            </a:r>
            <a:r>
              <a:rPr lang="fr" sz="1700"/>
              <a:t> to estimate the </a:t>
            </a:r>
            <a:r>
              <a:rPr lang="fr" sz="1700" b="1"/>
              <a:t>fair market value</a:t>
            </a:r>
            <a:r>
              <a:rPr lang="fr" sz="1700"/>
              <a:t> of properties in Paris based on DVF transaction data (2020–2024), and compare it to current prices to flag potential investment opportunities.</a:t>
            </a:r>
            <a:endParaRPr sz="2300">
              <a:solidFill>
                <a:srgbClr val="4B5258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pic>
        <p:nvPicPr>
          <p:cNvPr id="74" name="Google Shape;7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5"/>
          <p:cNvSpPr/>
          <p:nvPr/>
        </p:nvSpPr>
        <p:spPr>
          <a:xfrm>
            <a:off x="0" y="4784000"/>
            <a:ext cx="9144000" cy="2514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/>
          </a:p>
        </p:txBody>
      </p:sp>
      <p:sp>
        <p:nvSpPr>
          <p:cNvPr id="76" name="Google Shape;76;p15"/>
          <p:cNvSpPr txBox="1"/>
          <p:nvPr/>
        </p:nvSpPr>
        <p:spPr>
          <a:xfrm>
            <a:off x="1182450" y="1172550"/>
            <a:ext cx="7557000" cy="14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dirty="0">
                <a:solidFill>
                  <a:srgbClr val="4B5258"/>
                </a:solidFill>
                <a:latin typeface="Inter Medium"/>
                <a:ea typeface="Inter Medium"/>
                <a:cs typeface="Inter Medium"/>
                <a:sym typeface="Inter Medium"/>
              </a:rPr>
              <a:t>🤔 </a:t>
            </a:r>
            <a:r>
              <a:rPr lang="en-US" sz="1700" b="1" u="sng" dirty="0">
                <a:solidFill>
                  <a:srgbClr val="4B5258"/>
                </a:solidFill>
                <a:latin typeface="Inter"/>
                <a:ea typeface="Inter"/>
                <a:cs typeface="Inter"/>
                <a:sym typeface="Inter"/>
              </a:rPr>
              <a:t>The problem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700" b="1" u="sng" dirty="0">
              <a:solidFill>
                <a:srgbClr val="4B5258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 dirty="0">
                <a:solidFill>
                  <a:schemeClr val="dk1"/>
                </a:solidFill>
              </a:rPr>
              <a:t>Real estate investors in Paris face a major challenge: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dirty="0">
                <a:solidFill>
                  <a:schemeClr val="dk1"/>
                </a:solidFill>
              </a:rPr>
              <a:t>they lack </a:t>
            </a:r>
            <a:r>
              <a:rPr lang="en-US" sz="1700" b="1" dirty="0">
                <a:solidFill>
                  <a:schemeClr val="dk1"/>
                </a:solidFill>
              </a:rPr>
              <a:t>automated and reliable tools</a:t>
            </a:r>
            <a:r>
              <a:rPr lang="en-US" sz="1700" dirty="0">
                <a:solidFill>
                  <a:schemeClr val="dk1"/>
                </a:solidFill>
              </a:rPr>
              <a:t> to identify properties that are </a:t>
            </a:r>
            <a:r>
              <a:rPr lang="en-US" sz="1700" b="1" dirty="0">
                <a:solidFill>
                  <a:schemeClr val="dk1"/>
                </a:solidFill>
              </a:rPr>
              <a:t>undervalued relative to market trends</a:t>
            </a:r>
            <a:r>
              <a:rPr lang="en-US" sz="1700" dirty="0">
                <a:solidFill>
                  <a:schemeClr val="dk1"/>
                </a:solidFill>
              </a:rPr>
              <a:t>.</a:t>
            </a:r>
            <a:endParaRPr lang="en-US" sz="2300" dirty="0">
              <a:solidFill>
                <a:srgbClr val="4B5258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77" name="Google Shape;77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DBD0"/>
        </a:solidFill>
        <a:effectLst/>
      </p:bgPr>
    </p:bg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40"/>
          <p:cNvSpPr txBox="1">
            <a:spLocks noGrp="1"/>
          </p:cNvSpPr>
          <p:nvPr>
            <p:ph type="ctrTitle" idx="4294967295"/>
          </p:nvPr>
        </p:nvSpPr>
        <p:spPr>
          <a:xfrm>
            <a:off x="1235600" y="1742168"/>
            <a:ext cx="5315100" cy="69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5600" b="1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rPr>
              <a:t>Thanks! </a:t>
            </a:r>
            <a:endParaRPr sz="5600" b="1">
              <a:solidFill>
                <a:srgbClr val="0E344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308" name="Google Shape;308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18625" y="3006625"/>
            <a:ext cx="4599299" cy="2136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4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4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101</Words>
  <Application>Microsoft Office PowerPoint</Application>
  <PresentationFormat>Affichage à l'écran (16:9)</PresentationFormat>
  <Paragraphs>20</Paragraphs>
  <Slides>4</Slides>
  <Notes>4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9" baseType="lpstr">
      <vt:lpstr>Arial</vt:lpstr>
      <vt:lpstr>Inter</vt:lpstr>
      <vt:lpstr>Inter Medium</vt:lpstr>
      <vt:lpstr>Inter SemiBold</vt:lpstr>
      <vt:lpstr>Simple Light</vt:lpstr>
      <vt:lpstr>Build Manage Data infra</vt:lpstr>
      <vt:lpstr>Planifier votre prochain voyage </vt:lpstr>
      <vt:lpstr>Le Problème :</vt:lpstr>
      <vt:lpstr>Thanks!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Martin BONNARD</dc:creator>
  <cp:lastModifiedBy>Martin BONNARD</cp:lastModifiedBy>
  <cp:revision>2</cp:revision>
  <dcterms:modified xsi:type="dcterms:W3CDTF">2025-11-14T10:41:52Z</dcterms:modified>
</cp:coreProperties>
</file>